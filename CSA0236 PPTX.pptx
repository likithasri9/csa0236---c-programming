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roxima Nova Bold" charset="1" panose="02000506030000020004"/>
      <p:regular r:id="rId19"/>
    </p:embeddedFont>
    <p:embeddedFont>
      <p:font typeface="Nunito" charset="1" panose="00000000000000000000"/>
      <p:regular r:id="rId20"/>
    </p:embeddedFont>
    <p:embeddedFont>
      <p:font typeface="Nunito Bold" charset="1" panose="00000000000000000000"/>
      <p:regular r:id="rId21"/>
    </p:embeddedFont>
    <p:embeddedFont>
      <p:font typeface="Open Sans Bold" charset="1" panose="020B0806030504020204"/>
      <p:regular r:id="rId22"/>
    </p:embeddedFont>
    <p:embeddedFont>
      <p:font typeface="Open Sans" charset="1" panose="020B0606030504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68211" y="2693028"/>
            <a:ext cx="17151578" cy="34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0"/>
              </a:lnSpc>
            </a:pPr>
            <a:r>
              <a:rPr lang="en-US" b="true" sz="990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AI-BASED RESUME SCREENING SYSTEM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7449106"/>
            <a:ext cx="8415465" cy="25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366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by:</a:t>
            </a:r>
          </a:p>
          <a:p>
            <a:pPr algn="ctr">
              <a:lnSpc>
                <a:spcPts val="5126"/>
              </a:lnSpc>
            </a:pPr>
            <a:r>
              <a:rPr lang="en-US" sz="366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deepthi korrapati(192572012)</a:t>
            </a:r>
          </a:p>
          <a:p>
            <a:pPr algn="ctr">
              <a:lnSpc>
                <a:spcPts val="5126"/>
              </a:lnSpc>
            </a:pPr>
            <a:r>
              <a:rPr lang="en-US" sz="366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likithasri arredula(192511003)</a:t>
            </a:r>
          </a:p>
          <a:p>
            <a:pPr algn="ctr">
              <a:lnSpc>
                <a:spcPts val="512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5116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ABSTRACT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6656" y="3331981"/>
            <a:ext cx="12073499" cy="588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371" indent="-360686" lvl="1">
              <a:lnSpc>
                <a:spcPts val="4677"/>
              </a:lnSpc>
              <a:buFont typeface="Arial"/>
              <a:buChar char="•"/>
            </a:pPr>
            <a:r>
              <a:rPr lang="en-US" sz="33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project implements a resume screening system using C programming concepts.</a:t>
            </a:r>
          </a:p>
          <a:p>
            <a:pPr algn="l" marL="721371" indent="-360686" lvl="1">
              <a:lnSpc>
                <a:spcPts val="4677"/>
              </a:lnSpc>
              <a:buFont typeface="Arial"/>
              <a:buChar char="•"/>
            </a:pPr>
            <a:r>
              <a:rPr lang="en-US" sz="33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simulates an AI-like decision process using rule-based evaluation.</a:t>
            </a:r>
          </a:p>
          <a:p>
            <a:pPr algn="l" marL="721371" indent="-360686" lvl="1">
              <a:lnSpc>
                <a:spcPts val="4677"/>
              </a:lnSpc>
              <a:buFont typeface="Arial"/>
              <a:buChar char="•"/>
            </a:pPr>
            <a:r>
              <a:rPr lang="en-US" sz="33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Candidate data is collected, analyzed, and scored systematically.</a:t>
            </a:r>
          </a:p>
          <a:p>
            <a:pPr algn="l" marL="721371" indent="-360686" lvl="1">
              <a:lnSpc>
                <a:spcPts val="4677"/>
              </a:lnSpc>
              <a:buFont typeface="Arial"/>
              <a:buChar char="•"/>
            </a:pPr>
            <a:r>
              <a:rPr lang="en-US" sz="334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system improves efficiency and consistency in shortlisting candidates.</a:t>
            </a:r>
          </a:p>
          <a:p>
            <a:pPr algn="just">
              <a:lnSpc>
                <a:spcPts val="4677"/>
              </a:lnSpc>
            </a:pPr>
          </a:p>
          <a:p>
            <a:pPr algn="ctr">
              <a:lnSpc>
                <a:spcPts val="467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11713" y="1268554"/>
            <a:ext cx="14018887" cy="123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3"/>
              </a:lnSpc>
            </a:pPr>
            <a:r>
              <a:rPr lang="en-US" b="true" sz="720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SYSTEM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5781" y="2786420"/>
            <a:ext cx="12535359" cy="653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AI-Based Resume Screening System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Input: Candidate details (name, skills, experience)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Processing: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Module 1 → Store data using structures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Module 2 → Evaluate and assign score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Storage: Save results using file handling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Output: Display score and selection status</a:t>
            </a:r>
          </a:p>
          <a:p>
            <a:pPr algn="l">
              <a:lnSpc>
                <a:spcPts val="4716"/>
              </a:lnSpc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Flow:</a:t>
            </a:r>
          </a:p>
          <a:p>
            <a:pPr algn="l" marL="727284" indent="-363642" lvl="1">
              <a:lnSpc>
                <a:spcPts val="4716"/>
              </a:lnSpc>
              <a:buFont typeface="Arial"/>
              <a:buChar char="•"/>
            </a:pPr>
            <a:r>
              <a:rPr lang="en-US" sz="33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Input → Storage → Evaluation → File → Output</a:t>
            </a:r>
          </a:p>
          <a:p>
            <a:pPr algn="l">
              <a:lnSpc>
                <a:spcPts val="4716"/>
              </a:lnSpc>
            </a:pPr>
          </a:p>
          <a:p>
            <a:pPr algn="l">
              <a:lnSpc>
                <a:spcPts val="471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81306" y="490329"/>
            <a:ext cx="12093562" cy="254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8"/>
              </a:lnSpc>
            </a:pPr>
            <a:r>
              <a:rPr lang="en-US" b="true" sz="727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MODULE 1 </a:t>
            </a:r>
          </a:p>
          <a:p>
            <a:pPr algn="ctr">
              <a:lnSpc>
                <a:spcPts val="10188"/>
              </a:lnSpc>
            </a:pPr>
            <a:r>
              <a:rPr lang="en-US" b="true" sz="727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RESUME DATA ENTRY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267" y="4114820"/>
            <a:ext cx="13195817" cy="462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Module 1 Overview</a:t>
            </a:r>
          </a:p>
          <a:p>
            <a:pPr algn="l" marL="811906" indent="-405953" lvl="1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module is responsible for collecting candidate details.</a:t>
            </a:r>
          </a:p>
          <a:p>
            <a:pPr algn="l" marL="811906" indent="-405953" lvl="1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ensures all input data follows a consistent structure.</a:t>
            </a:r>
          </a:p>
          <a:p>
            <a:pPr algn="l" marL="811906" indent="-405953" lvl="1">
              <a:lnSpc>
                <a:spcPts val="5264"/>
              </a:lnSpc>
              <a:buFont typeface="Arial"/>
              <a:buChar char="•"/>
            </a:pPr>
            <a:r>
              <a:rPr lang="en-US" sz="376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collected data acts as the foundation for evaluation</a:t>
            </a:r>
          </a:p>
          <a:p>
            <a:pPr algn="l">
              <a:lnSpc>
                <a:spcPts val="5264"/>
              </a:lnSpc>
            </a:pPr>
          </a:p>
          <a:p>
            <a:pPr algn="l">
              <a:lnSpc>
                <a:spcPts val="526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96938" y="918585"/>
            <a:ext cx="12094125" cy="257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1"/>
              </a:lnSpc>
            </a:pPr>
            <a:r>
              <a:rPr lang="en-US" b="true" sz="740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REPRESENTATION USING STRUCTURES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595245"/>
            <a:ext cx="12810391" cy="548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0646" indent="-420323" lvl="1">
              <a:lnSpc>
                <a:spcPts val="5451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struct is use</a:t>
            </a:r>
            <a:r>
              <a:rPr lang="en-US" sz="389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 to represent each candidate.</a:t>
            </a:r>
          </a:p>
          <a:p>
            <a:pPr algn="just" marL="840646" indent="-420323" lvl="1">
              <a:lnSpc>
                <a:spcPts val="5451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stores multiple attributes like name, skills, and experience.</a:t>
            </a:r>
          </a:p>
          <a:p>
            <a:pPr algn="just" marL="840646" indent="-420323" lvl="1">
              <a:lnSpc>
                <a:spcPts val="5451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Structures help in organizing related data efficiently.</a:t>
            </a:r>
          </a:p>
          <a:p>
            <a:pPr algn="just" marL="840646" indent="-420323" lvl="1">
              <a:lnSpc>
                <a:spcPts val="5451"/>
              </a:lnSpc>
              <a:buFont typeface="Arial"/>
              <a:buChar char="•"/>
            </a:pPr>
            <a:r>
              <a:rPr lang="en-US" sz="389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approach simplifies accessing and modifying candidate details.</a:t>
            </a:r>
          </a:p>
          <a:p>
            <a:pPr algn="just">
              <a:lnSpc>
                <a:spcPts val="5451"/>
              </a:lnSpc>
            </a:pPr>
          </a:p>
          <a:p>
            <a:pPr algn="just">
              <a:lnSpc>
                <a:spcPts val="545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29385" y="909060"/>
            <a:ext cx="12514516" cy="246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6"/>
              </a:lnSpc>
            </a:pPr>
            <a:r>
              <a:rPr lang="en-US" b="true" sz="704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INPUT AND DATA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8629" y="4112699"/>
            <a:ext cx="13171277" cy="382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2646" indent="-391323" lvl="1">
              <a:lnSpc>
                <a:spcPts val="5075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is entered using input functions </a:t>
            </a: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like scanf or fgets.</a:t>
            </a:r>
          </a:p>
          <a:p>
            <a:pPr algn="just" marL="782646" indent="-391323" lvl="1">
              <a:lnSpc>
                <a:spcPts val="5075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Multiple candidates are stored using arrays of structures.</a:t>
            </a:r>
          </a:p>
          <a:p>
            <a:pPr algn="just" marL="782646" indent="-391323" lvl="1">
              <a:lnSpc>
                <a:spcPts val="5075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asic validation ensures correct input format.</a:t>
            </a:r>
          </a:p>
          <a:p>
            <a:pPr algn="just" marL="782646" indent="-391323" lvl="1">
              <a:lnSpc>
                <a:spcPts val="5075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Organized data is passed to the evaluation module.</a:t>
            </a:r>
          </a:p>
          <a:p>
            <a:pPr algn="just">
              <a:lnSpc>
                <a:spcPts val="5075"/>
              </a:lnSpc>
            </a:pPr>
          </a:p>
          <a:p>
            <a:pPr algn="just">
              <a:lnSpc>
                <a:spcPts val="507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4909" y="824987"/>
            <a:ext cx="15583825" cy="239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b="true" sz="684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MODULE 2 </a:t>
            </a:r>
          </a:p>
          <a:p>
            <a:pPr algn="ctr">
              <a:lnSpc>
                <a:spcPts val="9576"/>
              </a:lnSpc>
            </a:pPr>
            <a:r>
              <a:rPr lang="en-US" b="true" sz="684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CANDIDATE EVALUATION ENGINE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233" y="4195871"/>
            <a:ext cx="13411984" cy="400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2"/>
              </a:lnSpc>
            </a:pP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Overview</a:t>
            </a:r>
          </a:p>
          <a:p>
            <a:pPr algn="just" marL="819292" indent="-40964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m</a:t>
            </a: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odule performs the core analysis of candidate data.</a:t>
            </a:r>
          </a:p>
          <a:p>
            <a:pPr algn="just" marL="819292" indent="-40964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e</a:t>
            </a: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valuates candidates based on predefined criteria.</a:t>
            </a:r>
          </a:p>
          <a:p>
            <a:pPr algn="just" marL="819292" indent="-409646" lvl="1">
              <a:lnSpc>
                <a:spcPts val="5312"/>
              </a:lnSpc>
              <a:buFont typeface="Arial"/>
              <a:buChar char="•"/>
            </a:pPr>
            <a:r>
              <a:rPr lang="en-US" sz="37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goal is to identify suitable candidates efficiently.</a:t>
            </a:r>
          </a:p>
          <a:p>
            <a:pPr algn="just">
              <a:lnSpc>
                <a:spcPts val="5312"/>
              </a:lnSpc>
            </a:pPr>
          </a:p>
          <a:p>
            <a:pPr algn="just">
              <a:lnSpc>
                <a:spcPts val="531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85116" y="1443860"/>
            <a:ext cx="9723699" cy="115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b="true" sz="66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EVALUATION CRITERIA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267" y="3867686"/>
            <a:ext cx="12985602" cy="385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4629" indent="-392314" lvl="1">
              <a:lnSpc>
                <a:spcPts val="5087"/>
              </a:lnSpc>
              <a:buFont typeface="Arial"/>
              <a:buChar char="•"/>
            </a:pPr>
            <a:r>
              <a:rPr lang="en-US" sz="363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Skills are checked using keyword matching t</a:t>
            </a:r>
            <a:r>
              <a:rPr lang="en-US" sz="363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echniques.</a:t>
            </a:r>
          </a:p>
          <a:p>
            <a:pPr algn="l" marL="784629" indent="-392314" lvl="1">
              <a:lnSpc>
                <a:spcPts val="5087"/>
              </a:lnSpc>
              <a:buFont typeface="Arial"/>
              <a:buChar char="•"/>
            </a:pPr>
            <a:r>
              <a:rPr lang="en-US" sz="363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Experience is evaluated based on defined thresholds.</a:t>
            </a:r>
          </a:p>
          <a:p>
            <a:pPr algn="l" marL="784629" indent="-392314" lvl="1">
              <a:lnSpc>
                <a:spcPts val="5087"/>
              </a:lnSpc>
              <a:buFont typeface="Arial"/>
              <a:buChar char="•"/>
            </a:pPr>
            <a:r>
              <a:rPr lang="en-US" sz="363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Educational qualification contributes to the overall score.</a:t>
            </a:r>
          </a:p>
          <a:p>
            <a:pPr algn="l" marL="784629" indent="-392314" lvl="1">
              <a:lnSpc>
                <a:spcPts val="5087"/>
              </a:lnSpc>
              <a:buFont typeface="Arial"/>
              <a:buChar char="•"/>
            </a:pPr>
            <a:r>
              <a:rPr lang="en-US" sz="363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Each parameter is assigned a specific weight.</a:t>
            </a:r>
          </a:p>
          <a:p>
            <a:pPr algn="l">
              <a:lnSpc>
                <a:spcPts val="5087"/>
              </a:lnSpc>
            </a:pPr>
          </a:p>
          <a:p>
            <a:pPr algn="r">
              <a:lnSpc>
                <a:spcPts val="508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02233" y="2779637"/>
            <a:ext cx="13335971" cy="563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03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EVALUATION LOGIC</a:t>
            </a:r>
            <a:r>
              <a:rPr lang="en-US" sz="403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AND FUNCTIONS</a:t>
            </a:r>
          </a:p>
          <a:p>
            <a:pPr algn="l">
              <a:lnSpc>
                <a:spcPts val="5647"/>
              </a:lnSpc>
            </a:pPr>
          </a:p>
          <a:p>
            <a:pPr algn="l" marL="870894" indent="-435447" lvl="1">
              <a:lnSpc>
                <a:spcPts val="5647"/>
              </a:lnSpc>
              <a:buFont typeface="Arial"/>
              <a:buChar char="•"/>
            </a:pPr>
            <a:r>
              <a:rPr lang="en-US" sz="40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FUNCTIONS ARE USED TO BREAK DOWN EVALUATION TASKS.</a:t>
            </a:r>
          </a:p>
          <a:p>
            <a:pPr algn="l" marL="870894" indent="-435447" lvl="1">
              <a:lnSpc>
                <a:spcPts val="5647"/>
              </a:lnSpc>
              <a:buFont typeface="Arial"/>
              <a:buChar char="•"/>
            </a:pPr>
            <a:r>
              <a:rPr lang="en-US" sz="40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CONDITIONAL STATEMENTS ASSIGN SCORES BASED ON CRITERIA.</a:t>
            </a:r>
          </a:p>
          <a:p>
            <a:pPr algn="l" marL="870894" indent="-435447" lvl="1">
              <a:lnSpc>
                <a:spcPts val="5647"/>
              </a:lnSpc>
              <a:buFont typeface="Arial"/>
              <a:buChar char="•"/>
            </a:pPr>
            <a:r>
              <a:rPr lang="en-US" sz="40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STRING FUNCTIONS HELP DETECT REQUIRED SKILLS.</a:t>
            </a:r>
          </a:p>
          <a:p>
            <a:pPr algn="l" marL="870894" indent="-435447" lvl="1">
              <a:lnSpc>
                <a:spcPts val="5647"/>
              </a:lnSpc>
              <a:buFont typeface="Arial"/>
              <a:buChar char="•"/>
            </a:pPr>
            <a:r>
              <a:rPr lang="en-US" sz="403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FINAL SCORE IS CALCULATED BY COMBINING ALL PARAMETERS.</a:t>
            </a:r>
          </a:p>
          <a:p>
            <a:pPr algn="l">
              <a:lnSpc>
                <a:spcPts val="564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48008" y="746018"/>
            <a:ext cx="14421410" cy="2540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5"/>
              </a:lnSpc>
            </a:pPr>
            <a:r>
              <a:rPr lang="en-US" b="true" sz="72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MODULE 3 </a:t>
            </a:r>
          </a:p>
          <a:p>
            <a:pPr algn="ctr">
              <a:lnSpc>
                <a:spcPts val="10165"/>
              </a:lnSpc>
            </a:pPr>
            <a:r>
              <a:rPr lang="en-US" b="true" sz="726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EVALUATION REPORT STORAGE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1281" y="3588587"/>
            <a:ext cx="11537461" cy="470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3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Overview</a:t>
            </a:r>
          </a:p>
          <a:p>
            <a:pPr algn="l" marL="824053" indent="-412026" lvl="1">
              <a:lnSpc>
                <a:spcPts val="5343"/>
              </a:lnSpc>
              <a:buFont typeface="Arial"/>
              <a:buChar char="•"/>
            </a:pPr>
            <a:r>
              <a:rPr lang="en-US" sz="3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module stores the evaluated results permanently.</a:t>
            </a:r>
          </a:p>
          <a:p>
            <a:pPr algn="l" marL="824053" indent="-412026" lvl="1">
              <a:lnSpc>
                <a:spcPts val="5343"/>
              </a:lnSpc>
              <a:buFont typeface="Arial"/>
              <a:buChar char="•"/>
            </a:pPr>
            <a:r>
              <a:rPr lang="en-US" sz="3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It converts processed data into a readable report format.</a:t>
            </a:r>
          </a:p>
          <a:p>
            <a:pPr algn="l" marL="824053" indent="-412026" lvl="1">
              <a:lnSpc>
                <a:spcPts val="5343"/>
              </a:lnSpc>
              <a:buFont typeface="Arial"/>
              <a:buChar char="•"/>
            </a:pPr>
            <a:r>
              <a:rPr lang="en-US" sz="381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Ensures that results can be accessed later.</a:t>
            </a:r>
          </a:p>
          <a:p>
            <a:pPr algn="l">
              <a:lnSpc>
                <a:spcPts val="5343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2471537" y="9410700"/>
            <a:ext cx="3911463" cy="391146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83000" y="73533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5400" y="7505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87800" y="7658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40200" y="7810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549833" y="-7513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397433" y="-5989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532579" y="2160682"/>
            <a:ext cx="9742289" cy="88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6"/>
              </a:lnSpc>
              <a:spcBef>
                <a:spcPct val="0"/>
              </a:spcBef>
            </a:pPr>
            <a:r>
              <a:rPr lang="en-US" b="true" sz="510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FILE HANDLING AND STORAGE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9385" y="4089263"/>
            <a:ext cx="11089225" cy="311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1899" indent="-320949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File handling functions like fopen, fprintf, and fclose are used.</a:t>
            </a:r>
          </a:p>
          <a:p>
            <a:pPr algn="ctr" marL="641899" indent="-320949" lvl="1">
              <a:lnSpc>
                <a:spcPts val="4162"/>
              </a:lnSpc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Candidate details and scores are written to a file.</a:t>
            </a:r>
          </a:p>
          <a:p>
            <a:pPr algn="ctr" marL="641899" indent="-320949" lvl="1">
              <a:lnSpc>
                <a:spcPts val="4162"/>
              </a:lnSpc>
              <a:spcBef>
                <a:spcPct val="0"/>
              </a:spcBef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is st</a:t>
            </a:r>
            <a:r>
              <a:rPr lang="en-US" sz="29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ored in a structured and readable format.</a:t>
            </a:r>
          </a:p>
          <a:p>
            <a:pPr algn="ctr" marL="641899" indent="-320949" lvl="1">
              <a:lnSpc>
                <a:spcPts val="4162"/>
              </a:lnSpc>
              <a:spcBef>
                <a:spcPct val="0"/>
              </a:spcBef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allows easy retrieval and review of results.</a:t>
            </a:r>
          </a:p>
          <a:p>
            <a:pPr algn="ctr">
              <a:lnSpc>
                <a:spcPts val="41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7829" y="5474231"/>
            <a:ext cx="6889946" cy="2946046"/>
          </a:xfrm>
          <a:custGeom>
            <a:avLst/>
            <a:gdLst/>
            <a:ahLst/>
            <a:cxnLst/>
            <a:rect r="r" b="b" t="t" l="l"/>
            <a:pathLst>
              <a:path h="2946046" w="6889946">
                <a:moveTo>
                  <a:pt x="0" y="0"/>
                </a:moveTo>
                <a:lnTo>
                  <a:pt x="6889946" y="0"/>
                </a:lnTo>
                <a:lnTo>
                  <a:pt x="6889946" y="2946046"/>
                </a:lnTo>
                <a:lnTo>
                  <a:pt x="0" y="2946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19471" y="5474231"/>
            <a:ext cx="8839829" cy="2534496"/>
          </a:xfrm>
          <a:custGeom>
            <a:avLst/>
            <a:gdLst/>
            <a:ahLst/>
            <a:cxnLst/>
            <a:rect r="r" b="b" t="t" l="l"/>
            <a:pathLst>
              <a:path h="2534496" w="8839829">
                <a:moveTo>
                  <a:pt x="0" y="0"/>
                </a:moveTo>
                <a:lnTo>
                  <a:pt x="8839829" y="0"/>
                </a:lnTo>
                <a:lnTo>
                  <a:pt x="8839829" y="2534497"/>
                </a:lnTo>
                <a:lnTo>
                  <a:pt x="0" y="2534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0215" y="1161946"/>
            <a:ext cx="7105174" cy="431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Output 1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Candidate Evaluation Output (Console)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Input: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Name: Rahul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Skills: C, Python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Experience: 3 years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95420" y="1161946"/>
            <a:ext cx="4208502" cy="431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Sample Outp</a:t>
            </a: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 2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Low Score Candidate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Input: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Name: Arjun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Skills: HTML, CSS</a:t>
            </a:r>
          </a:p>
          <a:p>
            <a:pPr algn="l" marL="669283" indent="-334641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Experience: 0 years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840200" y="7810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92600" y="7962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7433" y="-5989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45033" y="-4465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18866" y="1864999"/>
            <a:ext cx="4657036" cy="94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6"/>
              </a:lnSpc>
              <a:spcBef>
                <a:spcPct val="0"/>
              </a:spcBef>
            </a:pPr>
            <a:r>
              <a:rPr lang="en-US" sz="5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</a:t>
            </a:r>
            <a:r>
              <a:rPr lang="en-US" sz="550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589975"/>
            <a:ext cx="14001836" cy="481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5831" indent="-367916" lvl="1">
              <a:lnSpc>
                <a:spcPts val="4771"/>
              </a:lnSpc>
              <a:spcBef>
                <a:spcPct val="0"/>
              </a:spcBef>
              <a:buFont typeface="Arial"/>
              <a:buChar char="•"/>
            </a:pPr>
            <a:r>
              <a:rPr lang="en-US" sz="3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project dem</a:t>
            </a:r>
            <a:r>
              <a:rPr lang="en-US" sz="3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onstrates how C can be used for automation tasks.</a:t>
            </a:r>
          </a:p>
          <a:p>
            <a:pPr algn="just" marL="735831" indent="-367916" lvl="1">
              <a:lnSpc>
                <a:spcPts val="4771"/>
              </a:lnSpc>
              <a:spcBef>
                <a:spcPct val="0"/>
              </a:spcBef>
              <a:buFont typeface="Arial"/>
              <a:buChar char="•"/>
            </a:pPr>
            <a:r>
              <a:rPr lang="en-US" sz="3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effectively simulates resume screening using logical rules.</a:t>
            </a:r>
          </a:p>
          <a:p>
            <a:pPr algn="just" marL="735831" indent="-367916" lvl="1">
              <a:lnSpc>
                <a:spcPts val="4771"/>
              </a:lnSpc>
              <a:spcBef>
                <a:spcPct val="0"/>
              </a:spcBef>
              <a:buFont typeface="Arial"/>
              <a:buChar char="•"/>
            </a:pPr>
            <a:r>
              <a:rPr lang="en-US" sz="3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Modular design makes the system easy to understand and extend.</a:t>
            </a:r>
          </a:p>
          <a:p>
            <a:pPr algn="just" marL="735831" indent="-367916" lvl="1">
              <a:lnSpc>
                <a:spcPts val="4771"/>
              </a:lnSpc>
              <a:spcBef>
                <a:spcPct val="0"/>
              </a:spcBef>
              <a:buFont typeface="Arial"/>
              <a:buChar char="•"/>
            </a:pPr>
            <a:r>
              <a:rPr lang="en-US" sz="340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Future improvements can include advanced AI and database integration.</a:t>
            </a:r>
          </a:p>
          <a:p>
            <a:pPr algn="just">
              <a:lnSpc>
                <a:spcPts val="47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DAHEd8UZofY</dc:identifier>
  <dcterms:modified xsi:type="dcterms:W3CDTF">2011-08-01T06:04:30Z</dcterms:modified>
  <cp:revision>1</cp:revision>
  <dc:title>CSA0236 PPTX</dc:title>
</cp:coreProperties>
</file>